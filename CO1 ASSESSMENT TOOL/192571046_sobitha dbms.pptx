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03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F48D9-3EA1-4B88-979D-EE6AE97CB3A5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3532E-BCC4-409F-ABF7-0410BB753C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406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F48D9-3EA1-4B88-979D-EE6AE97CB3A5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3532E-BCC4-409F-ABF7-0410BB753C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2820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F48D9-3EA1-4B88-979D-EE6AE97CB3A5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3532E-BCC4-409F-ABF7-0410BB753C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743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F48D9-3EA1-4B88-979D-EE6AE97CB3A5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3532E-BCC4-409F-ABF7-0410BB753C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648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F48D9-3EA1-4B88-979D-EE6AE97CB3A5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3532E-BCC4-409F-ABF7-0410BB753C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691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F48D9-3EA1-4B88-979D-EE6AE97CB3A5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3532E-BCC4-409F-ABF7-0410BB753C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2074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F48D9-3EA1-4B88-979D-EE6AE97CB3A5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3532E-BCC4-409F-ABF7-0410BB753C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241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F48D9-3EA1-4B88-979D-EE6AE97CB3A5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3532E-BCC4-409F-ABF7-0410BB753C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6113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F48D9-3EA1-4B88-979D-EE6AE97CB3A5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3532E-BCC4-409F-ABF7-0410BB753C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394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F48D9-3EA1-4B88-979D-EE6AE97CB3A5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3532E-BCC4-409F-ABF7-0410BB753C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5727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F48D9-3EA1-4B88-979D-EE6AE97CB3A5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3532E-BCC4-409F-ABF7-0410BB753C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5180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F48D9-3EA1-4B88-979D-EE6AE97CB3A5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3532E-BCC4-409F-ABF7-0410BB753C1E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653642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F48D9-3EA1-4B88-979D-EE6AE97CB3A5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3532E-BCC4-409F-ABF7-0410BB753C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05113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F48D9-3EA1-4B88-979D-EE6AE97CB3A5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3532E-BCC4-409F-ABF7-0410BB753C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19489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F48D9-3EA1-4B88-979D-EE6AE97CB3A5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3532E-BCC4-409F-ABF7-0410BB753C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6054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F48D9-3EA1-4B88-979D-EE6AE97CB3A5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3532E-BCC4-409F-ABF7-0410BB753C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96180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3F48D9-3EA1-4B88-979D-EE6AE97CB3A5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3532E-BCC4-409F-ABF7-0410BB753C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1765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3F48D9-3EA1-4B88-979D-EE6AE97CB3A5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3532E-BCC4-409F-ABF7-0410BB753C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747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6DCD1-8C4E-1D1D-DBCF-FCAF5BD63F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4160" y="1549632"/>
            <a:ext cx="11207692" cy="1806998"/>
          </a:xfrm>
        </p:spPr>
        <p:txBody>
          <a:bodyPr>
            <a:norm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EER DIAGRAM demonstrating generalization and specialization with a University case study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2B0DF7-E95A-3262-152F-C70C4DDB6A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3599" y="3501370"/>
            <a:ext cx="9001462" cy="769441"/>
          </a:xfrm>
        </p:spPr>
        <p:txBody>
          <a:bodyPr/>
          <a:lstStyle/>
          <a:p>
            <a:r>
              <a:rPr lang="en-GB" sz="36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CSA0503 - Database Management Systems</a:t>
            </a:r>
            <a:endParaRPr lang="en-IN" sz="36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8F7113-3051-96CD-68D8-CB53E56A79BF}"/>
              </a:ext>
            </a:extLst>
          </p:cNvPr>
          <p:cNvSpPr txBox="1"/>
          <p:nvPr/>
        </p:nvSpPr>
        <p:spPr>
          <a:xfrm>
            <a:off x="564160" y="4999731"/>
            <a:ext cx="609460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J. RUBY ELIZABETH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88A29E-087A-6958-6CF4-163CFB7D7527}"/>
              </a:ext>
            </a:extLst>
          </p:cNvPr>
          <p:cNvSpPr txBox="1"/>
          <p:nvPr/>
        </p:nvSpPr>
        <p:spPr>
          <a:xfrm>
            <a:off x="8235193" y="4999731"/>
            <a:ext cx="314866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SUBMITTED BY:</a:t>
            </a:r>
          </a:p>
          <a:p>
            <a:r>
              <a:rPr lang="en-IN" dirty="0"/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SOBITHA D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192571046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F64DB0-D11D-DBDB-26D4-4C4ED1983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006" y="209094"/>
            <a:ext cx="9730061" cy="89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720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886A2-02DD-6E40-6607-ACAA986A7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846" y="1542356"/>
            <a:ext cx="10353761" cy="425192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3D2F6-C501-27B5-576C-41C9AC4F9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123" y="2214753"/>
            <a:ext cx="11769754" cy="3695136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Enhanced Entity Relationship (EER) model is an extension of the traditional ER model used in database design. It provides advanced concepts such as 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BD2ADA8-154B-E67E-977A-FD8339CC3CFE}"/>
              </a:ext>
            </a:extLst>
          </p:cNvPr>
          <p:cNvSpPr/>
          <p:nvPr/>
        </p:nvSpPr>
        <p:spPr>
          <a:xfrm>
            <a:off x="3168241" y="3376126"/>
            <a:ext cx="2178342" cy="637564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7D82C9D-0EA5-33C6-8BD2-18C147A1FCD8}"/>
              </a:ext>
            </a:extLst>
          </p:cNvPr>
          <p:cNvSpPr/>
          <p:nvPr/>
        </p:nvSpPr>
        <p:spPr>
          <a:xfrm>
            <a:off x="3168241" y="4553140"/>
            <a:ext cx="2178342" cy="603712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F865833-08C2-2C29-FD4F-81AFEEDE8DC2}"/>
              </a:ext>
            </a:extLst>
          </p:cNvPr>
          <p:cNvSpPr/>
          <p:nvPr/>
        </p:nvSpPr>
        <p:spPr>
          <a:xfrm>
            <a:off x="3168242" y="5829249"/>
            <a:ext cx="2178341" cy="637564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Inheritance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C51818D-560E-C8CF-484A-720CEE97CA20}"/>
              </a:ext>
            </a:extLst>
          </p:cNvPr>
          <p:cNvSpPr/>
          <p:nvPr/>
        </p:nvSpPr>
        <p:spPr>
          <a:xfrm>
            <a:off x="7331977" y="3784487"/>
            <a:ext cx="2183934" cy="637564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0071D07-DF8B-0620-F02F-DB63FC37981D}"/>
              </a:ext>
            </a:extLst>
          </p:cNvPr>
          <p:cNvSpPr/>
          <p:nvPr/>
        </p:nvSpPr>
        <p:spPr>
          <a:xfrm>
            <a:off x="7331978" y="5156852"/>
            <a:ext cx="2183933" cy="637564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Aggregation</a:t>
            </a:r>
          </a:p>
        </p:txBody>
      </p:sp>
      <p:sp>
        <p:nvSpPr>
          <p:cNvPr id="13" name="Star: 5 Points 12">
            <a:extLst>
              <a:ext uri="{FF2B5EF4-FFF2-40B4-BE49-F238E27FC236}">
                <a16:creationId xmlns:a16="http://schemas.microsoft.com/office/drawing/2014/main" id="{F1C4A384-46C5-9C6B-3249-657FADEC98B1}"/>
              </a:ext>
            </a:extLst>
          </p:cNvPr>
          <p:cNvSpPr/>
          <p:nvPr/>
        </p:nvSpPr>
        <p:spPr>
          <a:xfrm>
            <a:off x="1898706" y="3551246"/>
            <a:ext cx="318781" cy="287323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Star: 5 Points 14">
            <a:extLst>
              <a:ext uri="{FF2B5EF4-FFF2-40B4-BE49-F238E27FC236}">
                <a16:creationId xmlns:a16="http://schemas.microsoft.com/office/drawing/2014/main" id="{15399641-D8F2-367C-F00B-F3F036DDE74F}"/>
              </a:ext>
            </a:extLst>
          </p:cNvPr>
          <p:cNvSpPr/>
          <p:nvPr/>
        </p:nvSpPr>
        <p:spPr>
          <a:xfrm>
            <a:off x="1898706" y="4724390"/>
            <a:ext cx="318781" cy="287323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Star: 5 Points 16">
            <a:extLst>
              <a:ext uri="{FF2B5EF4-FFF2-40B4-BE49-F238E27FC236}">
                <a16:creationId xmlns:a16="http://schemas.microsoft.com/office/drawing/2014/main" id="{3A95CF4A-51B5-CB78-731C-E5AA648F9C8A}"/>
              </a:ext>
            </a:extLst>
          </p:cNvPr>
          <p:cNvSpPr/>
          <p:nvPr/>
        </p:nvSpPr>
        <p:spPr>
          <a:xfrm>
            <a:off x="1898707" y="6002537"/>
            <a:ext cx="318781" cy="287323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Star: 5 Points 18">
            <a:extLst>
              <a:ext uri="{FF2B5EF4-FFF2-40B4-BE49-F238E27FC236}">
                <a16:creationId xmlns:a16="http://schemas.microsoft.com/office/drawing/2014/main" id="{47E7E2F5-0F54-3685-C5F9-F136265BB56A}"/>
              </a:ext>
            </a:extLst>
          </p:cNvPr>
          <p:cNvSpPr/>
          <p:nvPr/>
        </p:nvSpPr>
        <p:spPr>
          <a:xfrm>
            <a:off x="6294036" y="3918660"/>
            <a:ext cx="318781" cy="287323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Star: 5 Points 20">
            <a:extLst>
              <a:ext uri="{FF2B5EF4-FFF2-40B4-BE49-F238E27FC236}">
                <a16:creationId xmlns:a16="http://schemas.microsoft.com/office/drawing/2014/main" id="{37E8CA4A-FDF8-511B-73DA-FAEEA4A49FA4}"/>
              </a:ext>
            </a:extLst>
          </p:cNvPr>
          <p:cNvSpPr/>
          <p:nvPr/>
        </p:nvSpPr>
        <p:spPr>
          <a:xfrm>
            <a:off x="6294036" y="5331972"/>
            <a:ext cx="318781" cy="287323"/>
          </a:xfrm>
          <a:prstGeom prst="star5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4DC717-1164-3E4D-9E8B-6B3390FA25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5210" y="317580"/>
            <a:ext cx="8941580" cy="818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968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991FC-A234-68DB-96A5-57C956EF7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933" y="1348646"/>
            <a:ext cx="10353761" cy="665527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 in university system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9B72F51-AFAE-FF2B-0622-3D20456194A4}"/>
              </a:ext>
            </a:extLst>
          </p:cNvPr>
          <p:cNvSpPr/>
          <p:nvPr/>
        </p:nvSpPr>
        <p:spPr>
          <a:xfrm>
            <a:off x="1508181" y="3629637"/>
            <a:ext cx="2231471" cy="665527"/>
          </a:xfrm>
          <a:prstGeom prst="round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3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3">
                  <a:lumMod val="60000"/>
                  <a:lumOff val="40000"/>
                  <a:tint val="23500"/>
                  <a:satMod val="16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D128AB0-C040-8F61-DAE4-3BECAC2E137D}"/>
              </a:ext>
            </a:extLst>
          </p:cNvPr>
          <p:cNvSpPr/>
          <p:nvPr/>
        </p:nvSpPr>
        <p:spPr>
          <a:xfrm>
            <a:off x="8133568" y="3627540"/>
            <a:ext cx="2231470" cy="665527"/>
          </a:xfrm>
          <a:prstGeom prst="roundRect">
            <a:avLst/>
          </a:prstGeom>
          <a:gradFill flip="none" rotWithShape="1">
            <a:gsLst>
              <a:gs pos="0">
                <a:srgbClr val="FFC000">
                  <a:tint val="66000"/>
                  <a:satMod val="160000"/>
                </a:srgbClr>
              </a:gs>
              <a:gs pos="50000">
                <a:srgbClr val="FFC000">
                  <a:tint val="44500"/>
                  <a:satMod val="160000"/>
                </a:srgbClr>
              </a:gs>
              <a:gs pos="100000">
                <a:srgbClr val="FFC000">
                  <a:tint val="23500"/>
                  <a:satMod val="160000"/>
                </a:srgb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CB6CC54-D8A7-E86E-9141-56D546877C45}"/>
              </a:ext>
            </a:extLst>
          </p:cNvPr>
          <p:cNvSpPr/>
          <p:nvPr/>
        </p:nvSpPr>
        <p:spPr>
          <a:xfrm>
            <a:off x="3291280" y="5485998"/>
            <a:ext cx="2077674" cy="665527"/>
          </a:xfrm>
          <a:prstGeom prst="roundRect">
            <a:avLst/>
          </a:prstGeom>
          <a:gradFill flip="none" rotWithShape="1">
            <a:gsLst>
              <a:gs pos="0">
                <a:srgbClr val="EB03DA">
                  <a:tint val="66000"/>
                  <a:satMod val="160000"/>
                </a:srgbClr>
              </a:gs>
              <a:gs pos="50000">
                <a:srgbClr val="EB03DA">
                  <a:tint val="44500"/>
                  <a:satMod val="160000"/>
                </a:srgbClr>
              </a:gs>
              <a:gs pos="100000">
                <a:srgbClr val="EB03DA">
                  <a:tint val="23500"/>
                  <a:satMod val="160000"/>
                </a:srgb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PG Student</a:t>
            </a:r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2C2B609-CD02-0B33-92EC-A686AA2F5C42}"/>
              </a:ext>
            </a:extLst>
          </p:cNvPr>
          <p:cNvSpPr/>
          <p:nvPr/>
        </p:nvSpPr>
        <p:spPr>
          <a:xfrm>
            <a:off x="4949503" y="2262863"/>
            <a:ext cx="2262231" cy="665527"/>
          </a:xfrm>
          <a:prstGeom prst="roundRect">
            <a:avLst/>
          </a:prstGeom>
          <a:gradFill flip="none" rotWithShape="1">
            <a:gsLst>
              <a:gs pos="0">
                <a:schemeClr val="accent6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accent6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accent6">
                  <a:lumMod val="40000"/>
                  <a:lumOff val="60000"/>
                  <a:tint val="23500"/>
                  <a:satMod val="160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BDBDA3B-F7E4-BFFA-5EEA-5611D1EB6E81}"/>
              </a:ext>
            </a:extLst>
          </p:cNvPr>
          <p:cNvSpPr/>
          <p:nvPr/>
        </p:nvSpPr>
        <p:spPr>
          <a:xfrm>
            <a:off x="226503" y="5485998"/>
            <a:ext cx="1860519" cy="665527"/>
          </a:xfrm>
          <a:prstGeom prst="roundRect">
            <a:avLst/>
          </a:prstGeom>
          <a:gradFill flip="none" rotWithShape="1">
            <a:gsLst>
              <a:gs pos="0">
                <a:srgbClr val="7030A0">
                  <a:tint val="66000"/>
                  <a:satMod val="160000"/>
                </a:srgbClr>
              </a:gs>
              <a:gs pos="50000">
                <a:srgbClr val="7030A0">
                  <a:tint val="44500"/>
                  <a:satMod val="160000"/>
                </a:srgbClr>
              </a:gs>
              <a:gs pos="100000">
                <a:srgbClr val="7030A0">
                  <a:tint val="23500"/>
                  <a:satMod val="160000"/>
                </a:srgb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Student</a:t>
            </a:r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13F3BD4-F685-883F-A4ED-FDCE4EA7A8CC}"/>
              </a:ext>
            </a:extLst>
          </p:cNvPr>
          <p:cNvSpPr/>
          <p:nvPr/>
        </p:nvSpPr>
        <p:spPr>
          <a:xfrm>
            <a:off x="6550402" y="5357769"/>
            <a:ext cx="1932265" cy="665527"/>
          </a:xfrm>
          <a:prstGeom prst="round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tint val="66000"/>
                  <a:satMod val="160000"/>
                </a:schemeClr>
              </a:gs>
              <a:gs pos="50000">
                <a:schemeClr val="tx2">
                  <a:lumMod val="40000"/>
                  <a:lumOff val="60000"/>
                  <a:tint val="44500"/>
                  <a:satMod val="160000"/>
                </a:schemeClr>
              </a:gs>
              <a:gs pos="100000">
                <a:schemeClr val="tx2">
                  <a:lumMod val="40000"/>
                  <a:lumOff val="60000"/>
                  <a:tint val="23500"/>
                  <a:satMod val="160000"/>
                </a:scheme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90F690C-5088-D72B-058D-5E4E9308FABE}"/>
              </a:ext>
            </a:extLst>
          </p:cNvPr>
          <p:cNvSpPr/>
          <p:nvPr/>
        </p:nvSpPr>
        <p:spPr>
          <a:xfrm>
            <a:off x="9664116" y="5289258"/>
            <a:ext cx="2376881" cy="665527"/>
          </a:xfrm>
          <a:prstGeom prst="roundRect">
            <a:avLst/>
          </a:prstGeom>
          <a:gradFill flip="none" rotWithShape="1">
            <a:gsLst>
              <a:gs pos="0">
                <a:srgbClr val="FF0000">
                  <a:tint val="66000"/>
                  <a:satMod val="160000"/>
                </a:srgbClr>
              </a:gs>
              <a:gs pos="50000">
                <a:srgbClr val="FF0000">
                  <a:tint val="44500"/>
                  <a:satMod val="160000"/>
                </a:srgbClr>
              </a:gs>
              <a:gs pos="100000">
                <a:srgbClr val="FF0000">
                  <a:tint val="23500"/>
                  <a:satMod val="160000"/>
                </a:srgbClr>
              </a:gs>
            </a:gsLst>
            <a:lin ang="162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  <a:endParaRPr lang="en-IN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D6746D-A331-E863-033F-57B938F9B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006" y="209094"/>
            <a:ext cx="9216623" cy="843853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F52BB7B1-4F4C-92E8-E06F-581D1F992908}"/>
              </a:ext>
            </a:extLst>
          </p:cNvPr>
          <p:cNvCxnSpPr>
            <a:cxnSpLocks/>
          </p:cNvCxnSpPr>
          <p:nvPr/>
        </p:nvCxnSpPr>
        <p:spPr>
          <a:xfrm>
            <a:off x="2647905" y="2595626"/>
            <a:ext cx="0" cy="1031914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DC08B1F-A19C-7D11-30DB-EA539E37ADC3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9237308" y="2579233"/>
            <a:ext cx="11995" cy="1048307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4AB54429-3496-7316-FF8F-49516FB00B9C}"/>
              </a:ext>
            </a:extLst>
          </p:cNvPr>
          <p:cNvCxnSpPr>
            <a:cxnSpLocks/>
            <a:stCxn id="10" idx="2"/>
            <a:endCxn id="14" idx="0"/>
          </p:cNvCxnSpPr>
          <p:nvPr/>
        </p:nvCxnSpPr>
        <p:spPr>
          <a:xfrm flipH="1">
            <a:off x="1156763" y="4295164"/>
            <a:ext cx="1467154" cy="1190834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78F3AF0-A373-22E3-433F-346ABD4A0BD4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>
            <a:off x="2623917" y="4295164"/>
            <a:ext cx="1706200" cy="1190834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8448D3B-92B9-5392-128A-BC331F1B8592}"/>
              </a:ext>
            </a:extLst>
          </p:cNvPr>
          <p:cNvCxnSpPr>
            <a:cxnSpLocks/>
            <a:stCxn id="11" idx="2"/>
            <a:endCxn id="16" idx="0"/>
          </p:cNvCxnSpPr>
          <p:nvPr/>
        </p:nvCxnSpPr>
        <p:spPr>
          <a:xfrm>
            <a:off x="9249303" y="4293067"/>
            <a:ext cx="1603254" cy="996191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6CD94D6-F74C-7824-C4BC-ED859495767F}"/>
              </a:ext>
            </a:extLst>
          </p:cNvPr>
          <p:cNvCxnSpPr>
            <a:cxnSpLocks/>
            <a:stCxn id="11" idx="2"/>
            <a:endCxn id="15" idx="0"/>
          </p:cNvCxnSpPr>
          <p:nvPr/>
        </p:nvCxnSpPr>
        <p:spPr>
          <a:xfrm flipH="1">
            <a:off x="7516535" y="4293067"/>
            <a:ext cx="1732768" cy="1064702"/>
          </a:xfrm>
          <a:prstGeom prst="straightConnector1">
            <a:avLst/>
          </a:prstGeom>
          <a:ln w="1270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C3E09E8-A476-04E2-60CE-498A538EEB56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2647905" y="2595626"/>
            <a:ext cx="2301598" cy="1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592E760-61F2-62DC-0A66-045B4C75AC8B}"/>
              </a:ext>
            </a:extLst>
          </p:cNvPr>
          <p:cNvCxnSpPr>
            <a:cxnSpLocks/>
            <a:endCxn id="13" idx="3"/>
          </p:cNvCxnSpPr>
          <p:nvPr/>
        </p:nvCxnSpPr>
        <p:spPr>
          <a:xfrm flipH="1">
            <a:off x="7211734" y="2579233"/>
            <a:ext cx="2025574" cy="16394"/>
          </a:xfrm>
          <a:prstGeom prst="line">
            <a:avLst/>
          </a:prstGeom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9647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DD8A5-DC6E-F5AA-4D30-3AB2622CF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2655" y="1318309"/>
            <a:ext cx="6946689" cy="64036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 CONCEPT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16D6A-14FD-03A4-266B-D71EC5073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837" y="2096064"/>
            <a:ext cx="11820088" cy="3695136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 is the process of combining multiple lower-level entities that share common attributes into a single higher-level entity called a superclass.</a:t>
            </a: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University cases: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5AA653-4B0C-94A6-1031-BEA8E5336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76" y="3673796"/>
            <a:ext cx="2734057" cy="27150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4BFBD5-0BD0-CC0B-59B6-14D43E5FB72B}"/>
              </a:ext>
            </a:extLst>
          </p:cNvPr>
          <p:cNvSpPr txBox="1"/>
          <p:nvPr/>
        </p:nvSpPr>
        <p:spPr>
          <a:xfrm>
            <a:off x="5396219" y="3066469"/>
            <a:ext cx="343948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Common Attributes of Person:</a:t>
            </a:r>
          </a:p>
          <a:p>
            <a:pPr>
              <a:buNone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 ID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Address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Phone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4C320F-8A5D-705E-154E-EE0FBCB193B8}"/>
              </a:ext>
            </a:extLst>
          </p:cNvPr>
          <p:cNvSpPr txBox="1"/>
          <p:nvPr/>
        </p:nvSpPr>
        <p:spPr>
          <a:xfrm>
            <a:off x="5396219" y="5144869"/>
            <a:ext cx="6094602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avoids repeating common attributes in Student and Faculty tables.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E7EEC5-D04D-C3FC-C6FB-87ED69FFF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662" y="254438"/>
            <a:ext cx="8872675" cy="81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342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23311-205A-0241-5E7C-8603597EC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4477" y="1243988"/>
            <a:ext cx="6418719" cy="69069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 CONCEPT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8C57A-AA7C-E4ED-13F3-8626468BB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208" y="2032284"/>
            <a:ext cx="11593584" cy="3695136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 is the process of dividing a higher-level entity (superclass) into lower-level entities (subclasses) based on specific characteristics.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ADBF39-6294-37BD-5507-48FF4B6A4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054" y="4340250"/>
            <a:ext cx="2838846" cy="19147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815076-9ACB-75D7-D397-B08093142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112535"/>
            <a:ext cx="5296639" cy="16956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273FBBC-CB58-E1F9-1DC0-5D98F7EC6ED6}"/>
              </a:ext>
            </a:extLst>
          </p:cNvPr>
          <p:cNvSpPr txBox="1"/>
          <p:nvPr/>
        </p:nvSpPr>
        <p:spPr>
          <a:xfrm>
            <a:off x="6096000" y="5276568"/>
            <a:ext cx="3703740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detailed information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organization</a:t>
            </a:r>
          </a:p>
          <a:p>
            <a:pPr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CFB4477-2A31-0909-16BB-70EF7EF33483}"/>
              </a:ext>
            </a:extLst>
          </p:cNvPr>
          <p:cNvSpPr txBox="1"/>
          <p:nvPr/>
        </p:nvSpPr>
        <p:spPr>
          <a:xfrm>
            <a:off x="1429006" y="3775713"/>
            <a:ext cx="21266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U</a:t>
            </a:r>
            <a:r>
              <a:rPr lang="en-IN" dirty="0" err="1"/>
              <a:t>niversity</a:t>
            </a:r>
            <a:r>
              <a:rPr lang="en-IN" dirty="0"/>
              <a:t> cases:</a:t>
            </a:r>
            <a:endParaRPr lang="en-IN" sz="1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B22988-8A45-5C97-3303-15600AFC29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0635" y="198697"/>
            <a:ext cx="8830730" cy="808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8265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313BC8-2E44-7827-0946-C1702B4EAA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7072" y="1761688"/>
            <a:ext cx="9815119" cy="48320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986C58-1729-0095-5921-547689AB4A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969" y="334929"/>
            <a:ext cx="9730061" cy="89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433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12E7E-8D11-890D-128C-4CEE06597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809227"/>
            <a:ext cx="10353761" cy="81652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 in Specialization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EA8801-5552-0BDA-4322-49AF8B4951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155" y="3102743"/>
            <a:ext cx="10353762" cy="3695136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Disjoint Constraint: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student can be either UG or PG, not both.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Specialization: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Student must belong to one specialization.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 Specialization: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Faculty member may or may not be categorized as Professor or Assistant Professor.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DC907E-2324-FF4E-DC50-63C06491F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7155" y="385263"/>
            <a:ext cx="9730061" cy="89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20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AB23E-F57C-0F3A-12B3-4138B6C3A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9950" y="1744910"/>
            <a:ext cx="5235872" cy="72790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3A04C01-1BC6-556A-652F-9509DFCC27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9006" y="2890340"/>
            <a:ext cx="9563449" cy="36768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E356F6-1009-DF60-29B9-898FCDAAE7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320" y="436524"/>
            <a:ext cx="9730061" cy="89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8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1B84E-4589-7DE1-6005-32660E1CE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8754" y="1636859"/>
            <a:ext cx="4002154" cy="68230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EER DIAGRAM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7C342C-99A5-0AE8-7DDE-F4C4E41634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9654" y="2828982"/>
            <a:ext cx="3848637" cy="36892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6D0622E-B521-948A-171E-5901E34A04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110" y="3109954"/>
            <a:ext cx="5690532" cy="340829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16E37D3-42EE-F153-4D1D-C05FB49FF264}"/>
              </a:ext>
            </a:extLst>
          </p:cNvPr>
          <p:cNvSpPr txBox="1"/>
          <p:nvPr/>
        </p:nvSpPr>
        <p:spPr>
          <a:xfrm>
            <a:off x="7342464" y="2459650"/>
            <a:ext cx="23468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Real-Time Example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9FED58E-F9EF-A993-8BB0-46735BEC1C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4782" y="400638"/>
            <a:ext cx="9730061" cy="89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837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9CCB0-857F-932A-2248-29A8CE1C2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5" y="1596611"/>
            <a:ext cx="10353761" cy="741028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3D13A6-D1AC-4933-F957-1AA17E6F4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874" y="2834295"/>
            <a:ext cx="11552245" cy="3695136"/>
          </a:xfrm>
        </p:spPr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EER extends the traditional ER model.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 combines entities into a common superclass.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Specialization creates detailed subclasses from a superclass.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University case study demonstrates inheritance and hierarchical relationships effectively.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EER models improve data consistency, scalability, and maintainability.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58B4B4-9940-9AEE-8756-F82BE4C61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006" y="209094"/>
            <a:ext cx="9730061" cy="89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9671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D1159-B17B-03BC-ECBD-229AC3669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0887" y="3429000"/>
            <a:ext cx="3985374" cy="782972"/>
          </a:xfrm>
        </p:spPr>
        <p:txBody>
          <a:bodyPr>
            <a:noAutofit/>
          </a:bodyPr>
          <a:lstStyle/>
          <a:p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23C199-5A73-556B-39EC-270D6A772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7395" y="427208"/>
            <a:ext cx="9730061" cy="89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4124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285</TotalTime>
  <Words>271</Words>
  <Application>Microsoft Office PowerPoint</Application>
  <PresentationFormat>Widescreen</PresentationFormat>
  <Paragraphs>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Bookman Old Style</vt:lpstr>
      <vt:lpstr>Rockwell</vt:lpstr>
      <vt:lpstr>Times New Roman</vt:lpstr>
      <vt:lpstr>Damask</vt:lpstr>
      <vt:lpstr>EER DIAGRAM demonstrating generalization and specialization with a University case study</vt:lpstr>
      <vt:lpstr>INTRODUCTION</vt:lpstr>
      <vt:lpstr>Entities in university system</vt:lpstr>
      <vt:lpstr>GENERALIZATION CONCEPT</vt:lpstr>
      <vt:lpstr>SPECIALIZATION CONCEPT</vt:lpstr>
      <vt:lpstr>PowerPoint Presentation</vt:lpstr>
      <vt:lpstr>Constraints in Specialization</vt:lpstr>
      <vt:lpstr>ADVANTAGES </vt:lpstr>
      <vt:lpstr>EER DIAGRAM 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Sobitha D</dc:creator>
  <cp:lastModifiedBy>Sobitha D</cp:lastModifiedBy>
  <cp:revision>4</cp:revision>
  <dcterms:created xsi:type="dcterms:W3CDTF">2026-07-17T16:41:00Z</dcterms:created>
  <dcterms:modified xsi:type="dcterms:W3CDTF">2026-07-21T09:22:04Z</dcterms:modified>
</cp:coreProperties>
</file>